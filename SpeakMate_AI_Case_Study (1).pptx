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4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79008" y="1817370"/>
            <a:ext cx="6089904" cy="32232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0"/>
            </a:solidFill>
            <a:prstDash val="solid"/>
          </a:ln>
          <a:effectLst>
            <a:outerShdw sx="100000" sy="100000" kx="0" ky="0" algn="bl" rotWithShape="0" blurRad="101600" dist="38100" dir="5400000">
              <a:srgbClr val="1A1A1A">
                <a:alpha val="25000"/>
              </a:srgbClr>
            </a:outerShdw>
          </a:effectLst>
        </p:spPr>
      </p:sp>
      <p:pic>
        <p:nvPicPr>
          <p:cNvPr id="3" name="Image 0" descr="front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844802"/>
            <a:ext cx="6035040" cy="31683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965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SPEAKING PRACTICE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33172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SpeakMate AI</a:t>
            </a:r>
            <a:endParaRPr lang="en-US" sz="4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4290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i="1" dirty="0">
                <a:solidFill>
                  <a:srgbClr val="CFE3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real conversations.</a:t>
            </a:r>
            <a:endParaRPr lang="en-US" sz="20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2000" i="1" dirty="0">
                <a:solidFill>
                  <a:srgbClr val="CFE3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Speak with confidence.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3434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speaking partner for students and early-career users.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263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9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Case Study — Product / AI Product Internship Assignment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4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806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0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36192"/>
            <a:ext cx="5806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4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early-career users preparing to speak English confidently.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5806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100" i="1" dirty="0">
                <a:solidFill>
                  <a:srgbClr val="264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“Speaking English is easier to understand than to practice.”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71800"/>
            <a:ext cx="5806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0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3410712"/>
            <a:ext cx="109728" cy="109728"/>
          </a:xfrm>
          <a:prstGeom prst="ellipse">
            <a:avLst/>
          </a:prstGeom>
          <a:solidFill>
            <a:srgbClr val="C08A3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1248" y="3273552"/>
            <a:ext cx="5532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5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opportunities for regular spoken-English practice.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014216"/>
            <a:ext cx="109728" cy="109728"/>
          </a:xfrm>
          <a:prstGeom prst="ellipse">
            <a:avLst/>
          </a:prstGeom>
          <a:solidFill>
            <a:srgbClr val="C08A3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41248" y="3877056"/>
            <a:ext cx="5532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5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Practicing with other people can feel intimidating or inconvenient.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617720"/>
            <a:ext cx="109728" cy="109728"/>
          </a:xfrm>
          <a:prstGeom prst="ellipse">
            <a:avLst/>
          </a:prstGeom>
          <a:solidFill>
            <a:srgbClr val="C08A3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1248" y="4480560"/>
            <a:ext cx="5532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5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Text-based AI does not fully recreate spoken conversation.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221224"/>
            <a:ext cx="109728" cy="109728"/>
          </a:xfrm>
          <a:prstGeom prst="ellipse">
            <a:avLst/>
          </a:prstGeom>
          <a:solidFill>
            <a:srgbClr val="C08A3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1248" y="5084064"/>
            <a:ext cx="5532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5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need a low-pressure way to practice realistic situations.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086600" y="1280160"/>
            <a:ext cx="4480560" cy="4160520"/>
          </a:xfrm>
          <a:prstGeom prst="roundRect">
            <a:avLst>
              <a:gd name="adj" fmla="val 2637"/>
            </a:avLst>
          </a:prstGeom>
          <a:solidFill>
            <a:srgbClr val="26433A"/>
          </a:solidFill>
          <a:ln/>
          <a:effectLst>
            <a:outerShdw sx="100000" sy="100000" kx="0" ky="0" algn="bl" rotWithShape="0" blurRad="101600" dist="38100" dir="5400000">
              <a:srgbClr val="1A1A1A">
                <a:alpha val="2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452360" y="16459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0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7452360" y="210312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“If speaking practice feels like a short conversation with a supportive partner, users may be more willing to practice repeatedly.”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4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Maya — Your AI Speaking Partner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514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DD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1540764"/>
            <a:ext cx="347472" cy="347472"/>
          </a:xfrm>
          <a:prstGeom prst="ellipse">
            <a:avLst/>
          </a:prstGeom>
          <a:solidFill>
            <a:srgbClr val="C08A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13232" y="15407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371600"/>
            <a:ext cx="18013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5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scenario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1371600"/>
            <a:ext cx="320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4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383280" y="1371600"/>
            <a:ext cx="2514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DD5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47872" y="1540764"/>
            <a:ext cx="347472" cy="347472"/>
          </a:xfrm>
          <a:prstGeom prst="ellipse">
            <a:avLst/>
          </a:prstGeom>
          <a:solidFill>
            <a:srgbClr val="C08A3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47872" y="15407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005072" y="1371600"/>
            <a:ext cx="18013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5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or type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897880" y="1371600"/>
            <a:ext cx="320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4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371600"/>
            <a:ext cx="2514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DD5C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82512" y="1540764"/>
            <a:ext cx="347472" cy="347472"/>
          </a:xfrm>
          <a:prstGeom prst="ellipse">
            <a:avLst/>
          </a:prstGeom>
          <a:solidFill>
            <a:srgbClr val="C08A3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82512" y="15407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839712" y="1371600"/>
            <a:ext cx="18013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5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with Maya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732520" y="1371600"/>
            <a:ext cx="320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4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052560" y="1371600"/>
            <a:ext cx="2514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DD5C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17152" y="1540764"/>
            <a:ext cx="347472" cy="347472"/>
          </a:xfrm>
          <a:prstGeom prst="ellipse">
            <a:avLst/>
          </a:prstGeom>
          <a:solidFill>
            <a:srgbClr val="C08A3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217152" y="15407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674352" y="1371600"/>
            <a:ext cx="18013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5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feedback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21208" y="2304288"/>
            <a:ext cx="5084064" cy="269519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0"/>
            </a:solidFill>
            <a:prstDash val="solid"/>
          </a:ln>
          <a:effectLst>
            <a:outerShdw sx="100000" sy="100000" kx="0" ky="0" algn="bl" rotWithShape="0" blurRad="101600" dist="38100" dir="5400000">
              <a:srgbClr val="1A1A1A">
                <a:alpha val="25000"/>
              </a:srgbClr>
            </a:outerShdw>
          </a:effectLst>
        </p:spPr>
      </p:sp>
      <p:pic>
        <p:nvPicPr>
          <p:cNvPr id="23" name="Image 0" descr="Scenari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31720"/>
            <a:ext cx="5029200" cy="264033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6419088" y="2304288"/>
            <a:ext cx="5084064" cy="269519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0"/>
            </a:solidFill>
            <a:prstDash val="solid"/>
          </a:ln>
          <a:effectLst>
            <a:outerShdw sx="100000" sy="100000" kx="0" ky="0" algn="bl" rotWithShape="0" blurRad="101600" dist="38100" dir="5400000">
              <a:srgbClr val="1A1A1A">
                <a:alpha val="25000"/>
              </a:srgbClr>
            </a:outerShdw>
          </a:effectLst>
        </p:spPr>
      </p:sp>
      <p:pic>
        <p:nvPicPr>
          <p:cNvPr id="25" name="Image 1" descr="covers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331720"/>
            <a:ext cx="5029200" cy="264033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548640" y="506349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4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real-life situation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6446520" y="506349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4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+ text conversation with Maya, 5 turns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548640" y="547497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26433A"/>
          </a:solidFill>
          <a:ln/>
          <a:effectLst>
            <a:outerShdw sx="100000" sy="100000" kx="0" ky="0" algn="bl" rotWithShape="0" blurRad="101600" dist="38100" dir="5400000">
              <a:srgbClr val="1A1A1A">
                <a:alpha val="25000"/>
              </a:srgbClr>
            </a:outerShdw>
          </a:effectLst>
        </p:spPr>
      </p:sp>
      <p:sp>
        <p:nvSpPr>
          <p:cNvPr id="29" name="Text 25"/>
          <p:cNvSpPr txBox="1"/>
          <p:nvPr/>
        </p:nvSpPr>
        <p:spPr>
          <a:xfrm>
            <a:off x="868680" y="547497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30" kern="0" dirty="0">
                <a:solidFill>
                  <a:srgbClr val="C0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DESIGN DECISION</a:t>
            </a:r>
            <a:endParaRPr lang="en-US" sz="1150" dirty="0"/>
          </a:p>
        </p:txBody>
      </p:sp>
      <p:sp>
        <p:nvSpPr>
          <p:cNvPr id="30" name="Text 26"/>
          <p:cNvSpPr txBox="1"/>
          <p:nvPr/>
        </p:nvSpPr>
        <p:spPr>
          <a:xfrm>
            <a:off x="3749040" y="547497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sessions short enough to feel easy to start and finish.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4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Maya instead of a normal chatbot?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21208" y="1389888"/>
            <a:ext cx="3849624" cy="2047113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0"/>
            </a:solidFill>
            <a:prstDash val="solid"/>
          </a:ln>
          <a:effectLst>
            <a:outerShdw sx="100000" sy="100000" kx="0" ky="0" algn="bl" rotWithShape="0" blurRad="101600" dist="38100" dir="5400000">
              <a:srgbClr val="1A1A1A">
                <a:alpha val="25000"/>
              </a:srgbClr>
            </a:outerShdw>
          </a:effectLst>
        </p:spPr>
      </p:sp>
      <p:pic>
        <p:nvPicPr>
          <p:cNvPr id="4" name="Image 0" descr="covers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3794760" cy="199224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617720" y="1417320"/>
            <a:ext cx="3383280" cy="2148840"/>
          </a:xfrm>
          <a:prstGeom prst="roundRect">
            <a:avLst>
              <a:gd name="adj" fmla="val 4255"/>
            </a:avLst>
          </a:prstGeom>
          <a:solidFill>
            <a:srgbClr val="EDE5D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846320" y="158191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4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text chatbot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20116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5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Primarily feels like messaging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4846320" y="2487168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5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Less natural for speaking practice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2962656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5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Less conversational presence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092440" y="1417320"/>
            <a:ext cx="3383280" cy="2148840"/>
          </a:xfrm>
          <a:prstGeom prst="roundRect">
            <a:avLst>
              <a:gd name="adj" fmla="val 4255"/>
            </a:avLst>
          </a:prstGeom>
          <a:solidFill>
            <a:srgbClr val="26433A"/>
          </a:solidFill>
          <a:ln/>
          <a:effectLst>
            <a:outerShdw sx="100000" sy="100000" kx="0" ky="0" algn="bl" rotWithShape="0" blurRad="101600" dist="38100" dir="5400000">
              <a:srgbClr val="1A1A1A">
                <a:alpha val="2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321040" y="158191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SpeakMate + Maya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8321040" y="19659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Voice + text interaction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8321040" y="236829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Scenario-based role-play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8321040" y="277063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Maya speaks back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8321040" y="317296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Personalized feedback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794760"/>
            <a:ext cx="11091672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DD5C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8680" y="397764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264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TRADE-OFFS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868680" y="43891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0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NOW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868680" y="47274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5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conversation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868680" y="499262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5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4 scenarios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868680" y="5257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5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Voice + text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868680" y="552297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5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avatar (Maya)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868680" y="578815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5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Post-session feedback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868680" y="60533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5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Product Pulse analytics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4663440" y="43891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4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INTENTIONALLY DEFERRED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4663440" y="47274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4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Accounts / login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4663440" y="499262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4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Payments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4663440" y="5257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4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Social features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4663440" y="552297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4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Leaderboards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4663440" y="578815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4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Pronunciation / accent analysis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4663440" y="60533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4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Native mobile app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8366760" y="4389120"/>
            <a:ext cx="3063240" cy="1783080"/>
          </a:xfrm>
          <a:prstGeom prst="roundRect">
            <a:avLst>
              <a:gd name="adj" fmla="val 5128"/>
            </a:avLst>
          </a:prstGeom>
          <a:solidFill>
            <a:srgbClr val="26433A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567928" y="4553712"/>
            <a:ext cx="2660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C0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8567928" y="4873752"/>
            <a:ext cx="266090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E8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the MVP on validating the core speaking-practice loop before investing in secondary features.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4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Validation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21208" y="1389888"/>
            <a:ext cx="5084064" cy="2883789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0"/>
            </a:solidFill>
            <a:prstDash val="solid"/>
          </a:ln>
          <a:effectLst>
            <a:outerShdw sx="100000" sy="100000" kx="0" ky="0" algn="bl" rotWithShape="0" blurRad="101600" dist="38100" dir="5400000">
              <a:srgbClr val="1A1A1A">
                <a:alpha val="25000"/>
              </a:srgbClr>
            </a:outerShdw>
          </a:effectLst>
        </p:spPr>
      </p:sp>
      <p:pic>
        <p:nvPicPr>
          <p:cNvPr id="4" name="Image 0" descr="Product_Pul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5029200" cy="282892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355973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4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testing data from SpeakMate Product Pulse.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989320" y="141732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5C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153912" y="1508760"/>
            <a:ext cx="23225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64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6153912" y="1965960"/>
            <a:ext cx="23225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4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Started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869680" y="141732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5C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034272" y="1508760"/>
            <a:ext cx="23225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64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9034272" y="1965960"/>
            <a:ext cx="23225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4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Completed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989320" y="2478024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5C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153912" y="2569464"/>
            <a:ext cx="23225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64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61%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6153912" y="3026664"/>
            <a:ext cx="23225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4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Rate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869680" y="2478024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5C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034272" y="2569464"/>
            <a:ext cx="23225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64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 / 5</a:t>
            </a:r>
            <a:endParaRPr lang="en-US" sz="2100" dirty="0"/>
          </a:p>
        </p:txBody>
      </p:sp>
      <p:sp>
        <p:nvSpPr>
          <p:cNvPr id="17" name="Text 14"/>
          <p:cNvSpPr txBox="1"/>
          <p:nvPr/>
        </p:nvSpPr>
        <p:spPr>
          <a:xfrm>
            <a:off x="9034272" y="3026664"/>
            <a:ext cx="23225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4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Rating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989320" y="3538728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5C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153912" y="3630168"/>
            <a:ext cx="23225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64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75%*</a:t>
            </a:r>
            <a:endParaRPr lang="en-US" sz="2100" dirty="0"/>
          </a:p>
        </p:txBody>
      </p:sp>
      <p:sp>
        <p:nvSpPr>
          <p:cNvPr id="20" name="Text 17"/>
          <p:cNvSpPr txBox="1"/>
          <p:nvPr/>
        </p:nvSpPr>
        <p:spPr>
          <a:xfrm>
            <a:off x="6153912" y="4087368"/>
            <a:ext cx="23225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4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Practice Again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869680" y="3538728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5C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034272" y="3630168"/>
            <a:ext cx="23225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64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100" dirty="0"/>
          </a:p>
        </p:txBody>
      </p:sp>
      <p:sp>
        <p:nvSpPr>
          <p:cNvPr id="23" name="Text 20"/>
          <p:cNvSpPr txBox="1"/>
          <p:nvPr/>
        </p:nvSpPr>
        <p:spPr>
          <a:xfrm>
            <a:off x="9034272" y="4087368"/>
            <a:ext cx="23225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4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Responses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5989320" y="4507992"/>
            <a:ext cx="5532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4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*75% of feedback respondents said they would practice again.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5989320" y="4837176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usage — sessions started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5989320" y="518464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5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Conversation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8001000" y="5212080"/>
            <a:ext cx="2103120" cy="146304"/>
          </a:xfrm>
          <a:prstGeom prst="roundRect">
            <a:avLst>
              <a:gd name="adj" fmla="val 25000"/>
            </a:avLst>
          </a:prstGeom>
          <a:solidFill>
            <a:srgbClr val="E4DCC7"/>
          </a:solidFill>
          <a:ln/>
        </p:spPr>
      </p:sp>
      <p:sp>
        <p:nvSpPr>
          <p:cNvPr id="28" name="Shape 25"/>
          <p:cNvSpPr/>
          <p:nvPr/>
        </p:nvSpPr>
        <p:spPr>
          <a:xfrm>
            <a:off x="8001000" y="5212080"/>
            <a:ext cx="2103120" cy="146304"/>
          </a:xfrm>
          <a:prstGeom prst="roundRect">
            <a:avLst>
              <a:gd name="adj" fmla="val 25000"/>
            </a:avLst>
          </a:prstGeom>
          <a:solidFill>
            <a:srgbClr val="C08A3E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195560" y="518464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4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5989320" y="5495544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5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Interview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8001000" y="5522976"/>
            <a:ext cx="2103120" cy="146304"/>
          </a:xfrm>
          <a:prstGeom prst="roundRect">
            <a:avLst>
              <a:gd name="adj" fmla="val 25000"/>
            </a:avLst>
          </a:prstGeom>
          <a:solidFill>
            <a:srgbClr val="E4DCC7"/>
          </a:solidFill>
          <a:ln/>
        </p:spPr>
      </p:sp>
      <p:sp>
        <p:nvSpPr>
          <p:cNvPr id="32" name="Shape 29"/>
          <p:cNvSpPr/>
          <p:nvPr/>
        </p:nvSpPr>
        <p:spPr>
          <a:xfrm>
            <a:off x="8001000" y="5522976"/>
            <a:ext cx="323557" cy="146304"/>
          </a:xfrm>
          <a:prstGeom prst="roundRect">
            <a:avLst>
              <a:gd name="adj" fmla="val 25000"/>
            </a:avLst>
          </a:prstGeom>
          <a:solidFill>
            <a:srgbClr val="C08A3E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10195560" y="549554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4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5989320" y="580644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5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Situation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8001000" y="5833872"/>
            <a:ext cx="2103120" cy="146304"/>
          </a:xfrm>
          <a:prstGeom prst="roundRect">
            <a:avLst>
              <a:gd name="adj" fmla="val 25000"/>
            </a:avLst>
          </a:prstGeom>
          <a:solidFill>
            <a:srgbClr val="E4DCC7"/>
          </a:solidFill>
          <a:ln/>
        </p:spPr>
      </p:sp>
      <p:sp>
        <p:nvSpPr>
          <p:cNvPr id="36" name="Shape 33"/>
          <p:cNvSpPr/>
          <p:nvPr/>
        </p:nvSpPr>
        <p:spPr>
          <a:xfrm>
            <a:off x="8001000" y="5833872"/>
            <a:ext cx="323557" cy="146304"/>
          </a:xfrm>
          <a:prstGeom prst="roundRect">
            <a:avLst>
              <a:gd name="adj" fmla="val 25000"/>
            </a:avLst>
          </a:prstGeom>
          <a:solidFill>
            <a:srgbClr val="C08A3E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10195560" y="5806440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4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5989320" y="6117336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5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Discussion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8001000" y="6144768"/>
            <a:ext cx="2103120" cy="146304"/>
          </a:xfrm>
          <a:prstGeom prst="roundRect">
            <a:avLst>
              <a:gd name="adj" fmla="val 25000"/>
            </a:avLst>
          </a:prstGeom>
          <a:solidFill>
            <a:srgbClr val="E4DCC7"/>
          </a:solidFill>
          <a:ln/>
        </p:spPr>
      </p:sp>
      <p:sp>
        <p:nvSpPr>
          <p:cNvPr id="40" name="Shape 37"/>
          <p:cNvSpPr/>
          <p:nvPr/>
        </p:nvSpPr>
        <p:spPr>
          <a:xfrm>
            <a:off x="8001000" y="6144768"/>
            <a:ext cx="161778" cy="146304"/>
          </a:xfrm>
          <a:prstGeom prst="roundRect">
            <a:avLst>
              <a:gd name="adj" fmla="val 25000"/>
            </a:avLst>
          </a:prstGeom>
          <a:solidFill>
            <a:srgbClr val="C08A3E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10195560" y="6117336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4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4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Learned From Testing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21208" y="1389888"/>
            <a:ext cx="4169664" cy="221513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0"/>
            </a:solidFill>
            <a:prstDash val="solid"/>
          </a:ln>
          <a:effectLst>
            <a:outerShdw sx="100000" sy="100000" kx="0" ky="0" algn="bl" rotWithShape="0" blurRad="101600" dist="38100" dir="5400000">
              <a:srgbClr val="1A1A1A">
                <a:alpha val="25000"/>
              </a:srgbClr>
            </a:outerShdw>
          </a:effectLst>
        </p:spPr>
      </p:sp>
      <p:pic>
        <p:nvPicPr>
          <p:cNvPr id="4" name="Image 0" descr="Analy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4114800" cy="216027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0" y="1417320"/>
            <a:ext cx="32461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DD5C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230368" y="1581912"/>
            <a:ext cx="310896" cy="54864"/>
          </a:xfrm>
          <a:prstGeom prst="roundRect">
            <a:avLst>
              <a:gd name="adj" fmla="val 50000"/>
            </a:avLst>
          </a:prstGeom>
          <a:solidFill>
            <a:srgbClr val="C08A3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230368" y="1691640"/>
            <a:ext cx="2843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64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SESSIONS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230368" y="2039112"/>
            <a:ext cx="284378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74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Feedback:  </a:t>
            </a:r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74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questions made the experience easier to complete.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230368" y="2624328"/>
            <a:ext cx="284378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64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5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core interaction short and low-friction.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503920" y="1417320"/>
            <a:ext cx="32461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DD5C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05088" y="1581912"/>
            <a:ext cx="310896" cy="54864"/>
          </a:xfrm>
          <a:prstGeom prst="roundRect">
            <a:avLst>
              <a:gd name="adj" fmla="val 50000"/>
            </a:avLst>
          </a:prstGeom>
          <a:solidFill>
            <a:srgbClr val="C08A3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705088" y="1691640"/>
            <a:ext cx="2843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64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VARIETY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705088" y="2039112"/>
            <a:ext cx="284378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74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Feedback:  </a:t>
            </a:r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74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Testers wanted additional scenarios.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705088" y="2624328"/>
            <a:ext cx="284378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64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5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scenario library based on demand.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029200" y="3566160"/>
            <a:ext cx="32461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DD5C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230368" y="3730752"/>
            <a:ext cx="310896" cy="54864"/>
          </a:xfrm>
          <a:prstGeom prst="roundRect">
            <a:avLst>
              <a:gd name="adj" fmla="val 50000"/>
            </a:avLst>
          </a:prstGeom>
          <a:solidFill>
            <a:srgbClr val="C08A3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230368" y="3840480"/>
            <a:ext cx="2843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64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FEEDBACK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230368" y="4187952"/>
            <a:ext cx="284378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74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Feedback:  </a:t>
            </a:r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74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wanted more useful and specific feedback.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230368" y="4773168"/>
            <a:ext cx="284378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64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5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the quality and personalization of post-session feedback.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8503920" y="3566160"/>
            <a:ext cx="32461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DD5C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705088" y="3730752"/>
            <a:ext cx="310896" cy="54864"/>
          </a:xfrm>
          <a:prstGeom prst="roundRect">
            <a:avLst>
              <a:gd name="adj" fmla="val 50000"/>
            </a:avLst>
          </a:prstGeom>
          <a:solidFill>
            <a:srgbClr val="C08A3E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705088" y="3840480"/>
            <a:ext cx="2843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64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8705088" y="4187952"/>
            <a:ext cx="284378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74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Feedback:  </a:t>
            </a:r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74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suggested choosing the AI assistant's voice.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8705088" y="4773168"/>
            <a:ext cx="284378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64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5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voice personalization.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48640" y="3778758"/>
            <a:ext cx="4114800" cy="1707642"/>
          </a:xfrm>
          <a:prstGeom prst="roundRect">
            <a:avLst>
              <a:gd name="adj" fmla="val 5355"/>
            </a:avLst>
          </a:prstGeom>
          <a:solidFill>
            <a:srgbClr val="26433A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777240" y="3870198"/>
            <a:ext cx="3657600" cy="14790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the low-friction core, then improve variety, feedback, and personalization.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64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MVP → Next Product Experiments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0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F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Beachhead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6654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Final-year college students and early-career job seekers preparing for interviews.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974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F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channels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8094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placement groups  ·  Student communities  ·  LinkedIn  ·  College communities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703320"/>
            <a:ext cx="5029200" cy="914400"/>
          </a:xfrm>
          <a:prstGeom prst="roundRect">
            <a:avLst>
              <a:gd name="adj" fmla="val 10000"/>
            </a:avLst>
          </a:prstGeom>
          <a:solidFill>
            <a:srgbClr val="3153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37033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“Practice your next interview before the real one.”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1417320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0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WOULD TEST NEXT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1837944"/>
            <a:ext cx="91440" cy="91440"/>
          </a:xfrm>
          <a:prstGeom prst="ellipse">
            <a:avLst/>
          </a:prstGeom>
          <a:solidFill>
            <a:srgbClr val="C08A3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91072" y="1700784"/>
            <a:ext cx="5321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scenarios:  </a:t>
            </a:r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C9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relevant situations may increase usefulness.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2340864"/>
            <a:ext cx="91440" cy="91440"/>
          </a:xfrm>
          <a:prstGeom prst="ellipse">
            <a:avLst/>
          </a:prstGeom>
          <a:solidFill>
            <a:srgbClr val="C08A3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91072" y="2203704"/>
            <a:ext cx="5321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feedback:  </a:t>
            </a:r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C9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specific feedback may increase repeat intent.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2843784"/>
            <a:ext cx="91440" cy="91440"/>
          </a:xfrm>
          <a:prstGeom prst="ellipse">
            <a:avLst/>
          </a:prstGeom>
          <a:solidFill>
            <a:srgbClr val="C08A3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91072" y="2706624"/>
            <a:ext cx="5321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choice:  </a:t>
            </a:r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C9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personalized AI voice may improve engagement.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3346704"/>
            <a:ext cx="91440" cy="91440"/>
          </a:xfrm>
          <a:prstGeom prst="ellipse">
            <a:avLst/>
          </a:prstGeom>
          <a:solidFill>
            <a:srgbClr val="C08A3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91072" y="3209544"/>
            <a:ext cx="5321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usage:  </a:t>
            </a:r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C9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sessions per tester and return sessions.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35040" y="3849624"/>
            <a:ext cx="91440" cy="91440"/>
          </a:xfrm>
          <a:prstGeom prst="ellipse">
            <a:avLst/>
          </a:prstGeom>
          <a:solidFill>
            <a:srgbClr val="C08A3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91072" y="3712464"/>
            <a:ext cx="5321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performance:  </a:t>
            </a:r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C9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completion and repeat usage by scenario.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35040" y="4352544"/>
            <a:ext cx="91440" cy="91440"/>
          </a:xfrm>
          <a:prstGeom prst="ellipse">
            <a:avLst/>
          </a:prstGeom>
          <a:solidFill>
            <a:srgbClr val="C08A3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291072" y="4215384"/>
            <a:ext cx="5321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experiment:  </a:t>
            </a:r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C9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better feedback increases willingness to practice again.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892040"/>
            <a:ext cx="11091672" cy="0"/>
          </a:xfrm>
          <a:prstGeom prst="line">
            <a:avLst/>
          </a:prstGeom>
          <a:noFill/>
          <a:ln w="12700">
            <a:solidFill>
              <a:srgbClr val="3F635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51206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Goal: Turn first-time practice into a repeatable speaking habit.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2026-09-02T05:06:43Z</dcterms:created>
  <dcterms:modified xsi:type="dcterms:W3CDTF">2026-09-02T05:06:43Z</dcterms:modified>
</cp:coreProperties>
</file>